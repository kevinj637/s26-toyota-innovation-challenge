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2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34C"/>
    <a:srgbClr val="F2EDA8"/>
    <a:srgbClr val="EBAB00"/>
    <a:srgbClr val="FAE100"/>
    <a:srgbClr val="FFFFAA"/>
    <a:srgbClr val="FFFFFF"/>
    <a:srgbClr val="E4B429"/>
    <a:srgbClr val="FFD54F"/>
    <a:srgbClr val="FFEA3D"/>
    <a:srgbClr val="E02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94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76" y="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customXml" Target="../customXml/item1.xml"/><Relationship Id="rId28" Type="http://schemas.openxmlformats.org/officeDocument/2006/relationships/customXml" Target="../customXml/item2.xml"/><Relationship Id="rId29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2/21/24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Unexpected machine downtime costs manufacturers millions a year. The earliest warning a motor gives before it fails is its own current — so we read that current in real time and catch a stall the instant it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motor stalls, current spikes — but it also spikes on every start-up, the inrush. A naive 'too-high' alarm cries wolf on every power-on. The real signal is high current that STAYS high. A stall is sustained; a start-up decays. Telling them apart is the heart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windowed features — level, slope, and whether the current is still rising or holding — into a decision tree. We chose a tree: interpretable, and tiny enough to run on a chip. The algorithm itself found that steadiness separates a real stall from a start-up.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— green. Power-cycle it — current spikes but it stays green, no false alarm. Stall it — RED in under a tenth of a second. Release — back to green. Start-up ignored, real stall caught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cleanly separates the three states. Stall is perfect, and a start-up is never predicted as a stall — the property that matters. 18 automated tests, simulator-verified before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doesn't need a laptop. We compiled the same tree into C and flashed it onto the Arduino; it runs inference on-chip and lights an LED on a stall. Pull the laptop and it still fires — at the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feature code runs unchanged on Toyota's real 8-DOF arm telemetry, fleet-wide, and surfaces the most stressed joints. With labeled fault data it scales to production predictive maintenance. (Honest: this shows the method transfers — not that we detected stalls on the arm; that data is unlabeled.)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human-centered: catches failures before they cascade — protecting equipment, preventing line stops, keeping workers safe. From a $3 motor to a robot fleet — same physics, same code.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719960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9D516E-B50C-3538-5F83-7A7E26FA718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4C80F1-3A23-371A-2470-E4F47051B06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E94728-AA91-523E-8496-C81B9B4F7DBA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91B2D9-C1ED-03D3-DEF3-A9A462104F1B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6A16F2-9D54-FDAA-9A4A-51FD430B6DE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E2637A-331B-C5E3-4052-2A4B4D0889CD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University of Waterloo logo">
            <a:extLst>
              <a:ext uri="{FF2B5EF4-FFF2-40B4-BE49-F238E27FC236}">
                <a16:creationId xmlns:a16="http://schemas.microsoft.com/office/drawing/2014/main" id="{F9381018-83A5-0DDE-AA4A-B9F8D17123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61" y="5304722"/>
            <a:ext cx="3759035" cy="1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0F6756-3E11-A664-FDBC-686B312F4ED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1E4A79-7EF1-881C-448C-B5893289EE72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F2ED37-6474-16ED-2345-5EC13A087CB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628BAF-CB56-3888-5C04-D94C5B43C05A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D47A3D-6975-669C-340E-F2326F6ABABA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96993A-5AA1-1101-663C-8CCD805BD6C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 descr="University of Waterloo logo">
            <a:extLst>
              <a:ext uri="{FF2B5EF4-FFF2-40B4-BE49-F238E27FC236}">
                <a16:creationId xmlns:a16="http://schemas.microsoft.com/office/drawing/2014/main" id="{023930CF-35B1-50C3-2CC3-42CBB13E41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61" y="5304722"/>
            <a:ext cx="3759035" cy="1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5167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7CFFB5-59B4-4102-814E-9285FB5173B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932F0D-9F96-7DB3-EBDF-2EEF5271C0CC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6A6273-7642-42A5-E18F-1DE50316C94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044829-A5BB-8024-3D09-E1C9E32BCA68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95626F-B1B6-6C41-86AA-CC9E13CCC1F5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3422BFA-868C-6396-0C14-E3B59F179385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 descr="University of Waterloo logo">
            <a:extLst>
              <a:ext uri="{FF2B5EF4-FFF2-40B4-BE49-F238E27FC236}">
                <a16:creationId xmlns:a16="http://schemas.microsoft.com/office/drawing/2014/main" id="{BBF0D8A2-F1EC-E7D7-E699-09A5BA5F0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4157" y="5304723"/>
            <a:ext cx="3759035" cy="14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 baseline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EC3763-2453-841B-0F5D-79F0D6E1A60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18602B7-0464-FA62-D3B1-AF340B30EEBD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9FCB91-56EE-0306-B1C4-B6EE24D72222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C9AC06-3237-7FB8-3E71-5F0CC0F88A28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5069881-5C49-1510-1B4A-A66A8251301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AF94964-811F-E5B8-5769-F335900C651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University of Waterloo logo">
            <a:extLst>
              <a:ext uri="{FF2B5EF4-FFF2-40B4-BE49-F238E27FC236}">
                <a16:creationId xmlns:a16="http://schemas.microsoft.com/office/drawing/2014/main" id="{0F962198-0F7C-1A7B-DC29-ECAA32C67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4157" y="5304723"/>
            <a:ext cx="3759035" cy="14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7413"/>
            <a:ext cx="8770620" cy="1212056"/>
          </a:xfrm>
        </p:spPr>
        <p:txBody>
          <a:bodyPr anchor="b">
            <a:noAutofit/>
          </a:bodyPr>
          <a:lstStyle>
            <a:lvl1pPr algn="l">
              <a:defRPr sz="4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7299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3CDDAC-C7BC-C026-DBF5-1F441817694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93E90F-8348-6507-0CA6-23A77D0FF9D3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10C4E9-E0C2-2B5C-6851-9D5D61545008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BCF4D7-716F-52CC-66B7-C2694CA5B51F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E75C32-392B-B376-010B-6A75AE630CBB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0F947E-B04D-E029-09CB-EEC744D80E2B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CEECD4-4800-71B3-500D-D8DB8ECD7D8D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5DB53A1-9CD0-9270-2A9B-841D9E8E7C98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0238B9E-5961-89CA-949B-73D627619AD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B4FFA6-3B2D-F2A7-3300-59721970DC69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95B991-F449-37E7-F856-FDA75449C532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BFF1749-63D7-B78A-277A-2B74411FA25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 dirty="0"/>
              <a:t>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FDE9AFA-FFD7-2347-3167-FDF1E0A34AC3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E5C5A6-6C2A-AFEE-BD17-49528C3855FB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D549B1-F3EA-848F-3C95-AFBB4052AC0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0A31AE-FDE0-EF4E-8CB4-92A0FFF2647C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1D21763-0A4C-FA7D-9F37-F8AFE615EED6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2AC8E2-F6D4-FD99-70C6-77755885A9A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45819"/>
            <a:ext cx="5440648" cy="540720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87999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 dirty="0"/>
              <a:t>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C6A36-12A8-648E-3569-D00054B97EDE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41EFA2-509C-A2DA-BAFE-6A88632CD8BD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475CC21-076A-A811-68B0-7FD8CD8D56F3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C91703A-A99F-06CE-B55C-0D09FBAF811B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0600EF-94C1-BC1E-4FA3-4CC356E82A0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69E7EA-C348-85EA-0BB1-F112127EBF12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6E267E-B65C-F4B3-6286-047BB3E93079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736B7B-B04C-12D3-2026-E56D619F8DA3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331547-A9DB-F53A-721D-FDBAE7A1BAA4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56261B-07B2-A56E-A728-17FD21096879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07BC18F-6CFE-55D8-BE1F-9202FC65B49C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0FCE5BD-A2E3-BD85-F1DC-9C10B47153A4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rgbClr val="FED3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257420-CE83-4866-3EA3-381C0CFC3158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8621F66-77FA-4999-E325-230D9B669B9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042B54D-8327-3710-DF48-EE39609CDDA0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CFC16C-2941-FB67-C5DD-46A3F3A9A173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4C2BD1-3A50-A203-B064-3DCD3906F6F2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1944A9-11DF-DB57-300B-F689B08F4D3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2/21/24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AC5E88-54DB-DB07-2D2B-3EA3C0141922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D421AC2-0BAA-41E8-5271-9D286A5CB1F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31278D-990D-8DFD-00A2-BCCECAB47A5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348C4B-29F3-5E21-5DA6-F7A38594E57F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C0FAD8C-7636-5833-CFCE-3253852F15EF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CC4306F-759D-AE82-8D13-D983855E47F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2C18FC-29DC-30A0-0360-C5E5735072A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6231277-A44F-A1F5-03E4-79BB667E118A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69444E-AE08-770D-D564-E199EA1B706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7691CF8-1E73-A801-14D7-6110247881EC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DC9D66-33DA-E6DF-D54B-2453FA7322A6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EBB1E0F-DE82-BF28-6F15-1C179C3FA41E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Picture 25" descr="University of Waterloo logo">
            <a:extLst>
              <a:ext uri="{FF2B5EF4-FFF2-40B4-BE49-F238E27FC236}">
                <a16:creationId xmlns:a16="http://schemas.microsoft.com/office/drawing/2014/main" id="{5604EBD5-7BE6-8BAD-C10F-F29FF1FC02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945" y="1204402"/>
            <a:ext cx="6407315" cy="415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 cap="none" baseline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2/21/24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C84CBA-BDD4-B9EC-8FD3-ECC1DF539F9E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E04DCE-1B6E-B5CB-9E62-E45B592AFB6A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8AF4A26-5CAE-1F08-C93F-B41E8E5BB1DB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623493-CA34-79CF-0A7F-DF7FA3107102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FBED65-B55C-005E-0B76-59B6F1DB7BD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F170495-1DE0-AF98-003E-5B61D768B50C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University of Waterloo logo">
            <a:extLst>
              <a:ext uri="{FF2B5EF4-FFF2-40B4-BE49-F238E27FC236}">
                <a16:creationId xmlns:a16="http://schemas.microsoft.com/office/drawing/2014/main" id="{086A222B-79FE-32D2-AF56-76C91A4EBD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945" y="1204402"/>
            <a:ext cx="6407315" cy="415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YOU+WATERLOO">
            <a:extLst>
              <a:ext uri="{FF2B5EF4-FFF2-40B4-BE49-F238E27FC236}">
                <a16:creationId xmlns:a16="http://schemas.microsoft.com/office/drawing/2014/main" id="{28F653FE-3A86-E844-A53F-0361E59D70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53660" y="4585014"/>
            <a:ext cx="1884680" cy="533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8ADE716-1136-A547-A8CE-EAC2B309AA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0227"/>
            <a:ext cx="3854704" cy="25247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91E8C1-028B-B8F4-4256-E3712FED0E55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53E403A-BC35-D5C8-A61A-6A21441F2A47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BBAAB5-DC1C-86EB-4372-7AA35FAC264E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6E0FE3-0020-4B30-798D-E8A1A63EEAD4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32F16E-6FB3-59D9-5ABB-055FA23EB8BF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425B3-553E-0171-4C59-CD7445926E13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University of Waterloo logo">
            <a:extLst>
              <a:ext uri="{FF2B5EF4-FFF2-40B4-BE49-F238E27FC236}">
                <a16:creationId xmlns:a16="http://schemas.microsoft.com/office/drawing/2014/main" id="{0E8EB7D6-3776-0C1B-E0DD-A6CD3262A4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667" y="895553"/>
            <a:ext cx="5757267" cy="37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5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2/21/24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 descr="YOU+WATERLOO">
            <a:extLst>
              <a:ext uri="{FF2B5EF4-FFF2-40B4-BE49-F238E27FC236}">
                <a16:creationId xmlns:a16="http://schemas.microsoft.com/office/drawing/2014/main" id="{61B2F895-74F6-5245-9741-0020E25D8A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660" y="4592032"/>
            <a:ext cx="1884680" cy="533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46E8A0-B6BB-1D40-8410-044E5B2039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68648" y="5277245"/>
            <a:ext cx="3854704" cy="252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747904-A0FC-F14A-9236-E3A1ADBB8DEF}"/>
              </a:ext>
            </a:extLst>
          </p:cNvPr>
          <p:cNvSpPr txBox="1"/>
          <p:nvPr userDrawn="1"/>
        </p:nvSpPr>
        <p:spPr>
          <a:xfrm>
            <a:off x="4851400" y="72474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286E6D-0D71-65B9-5A2A-13BC64D090E5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94DCB05-C5B2-F917-DEBD-1ADFF9EF49FB}"/>
                </a:ext>
              </a:extLst>
            </p:cNvPr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C16BE5-37EB-7BF9-91C1-1DD99FB6DF48}"/>
                </a:ext>
              </a:extLst>
            </p:cNvPr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43753E-1D6D-DAC7-EEB3-784F18B6ACE7}"/>
                </a:ext>
              </a:extLst>
            </p:cNvPr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A03DC8-13E8-7109-1E6E-7D037DB2C7A0}"/>
                </a:ext>
              </a:extLst>
            </p:cNvPr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87BAEF-5621-E3DD-3CE7-8D8AEF27527F}"/>
                </a:ext>
              </a:extLst>
            </p:cNvPr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18" descr="University of Waterloo logo">
            <a:extLst>
              <a:ext uri="{FF2B5EF4-FFF2-40B4-BE49-F238E27FC236}">
                <a16:creationId xmlns:a16="http://schemas.microsoft.com/office/drawing/2014/main" id="{468B2007-5BEA-A5A1-19B5-A9DE3EF8F4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666" y="895553"/>
            <a:ext cx="5757269" cy="37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25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12192000" cy="397164"/>
            <a:chOff x="421830" y="1342659"/>
            <a:chExt cx="10018760" cy="290558"/>
          </a:xfrm>
        </p:grpSpPr>
        <p:sp>
          <p:nvSpPr>
            <p:cNvPr id="16" name="Rectangle 15"/>
            <p:cNvSpPr/>
            <p:nvPr userDrawn="1"/>
          </p:nvSpPr>
          <p:spPr>
            <a:xfrm>
              <a:off x="421831" y="1487938"/>
              <a:ext cx="2532791" cy="145279"/>
            </a:xfrm>
            <a:prstGeom prst="rect">
              <a:avLst/>
            </a:prstGeom>
            <a:solidFill>
              <a:srgbClr val="F2ED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2928836" y="1487938"/>
              <a:ext cx="2503918" cy="145279"/>
            </a:xfrm>
            <a:prstGeom prst="rect">
              <a:avLst/>
            </a:prstGeom>
            <a:solidFill>
              <a:srgbClr val="FAE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432754" y="1487938"/>
              <a:ext cx="2503918" cy="145279"/>
            </a:xfrm>
            <a:prstGeom prst="rect">
              <a:avLst/>
            </a:prstGeom>
            <a:solidFill>
              <a:srgbClr val="FED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7936672" y="1487938"/>
              <a:ext cx="2503918" cy="145279"/>
            </a:xfrm>
            <a:prstGeom prst="rect">
              <a:avLst/>
            </a:prstGeom>
            <a:solidFill>
              <a:srgbClr val="EBAB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421830" y="1342659"/>
              <a:ext cx="10018759" cy="14527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University of Waterloo logo">
            <a:extLst>
              <a:ext uri="{FF2B5EF4-FFF2-40B4-BE49-F238E27FC236}">
                <a16:creationId xmlns:a16="http://schemas.microsoft.com/office/drawing/2014/main" id="{5AE93192-E6E4-EBD3-E1EB-1CA76925B880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767" y="5868697"/>
            <a:ext cx="2749233" cy="108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  <p:sldLayoutId id="2147483722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Reading a motor's current to catch failure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stall detection — live, and on the chip</a:t>
            </a:r>
          </a:p>
          <a:p>
            <a:r>
              <a:t>Toyota Innovation Challenge · Fault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trap: a stall looks like a start-up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37360"/>
            <a:ext cx="5760720" cy="43891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t>Unplanned downtime costs manufacturers millions / year.</a:t>
            </a:r>
          </a:p>
          <a:p>
            <a:pPr>
              <a:spcAft>
                <a:spcPts val="1000"/>
              </a:spcAft>
            </a:pPr>
            <a:r>
              <a:t>A motor's earliest warning is its own current.</a:t>
            </a:r>
          </a:p>
          <a:p>
            <a:pPr>
              <a:spcAft>
                <a:spcPts val="1000"/>
              </a:spcAft>
            </a:pPr>
            <a:r>
              <a:t>A stall spikes the current — but so does every start-up (inrush).</a:t>
            </a:r>
          </a:p>
          <a:p>
            <a:pPr>
              <a:spcAft>
                <a:spcPts val="1000"/>
              </a:spcAft>
            </a:pPr>
            <a:r>
              <a:t>The signal isn't high current. It's high current that STAYS high.</a:t>
            </a:r>
          </a:p>
          <a:p>
            <a:pPr>
              <a:spcAft>
                <a:spcPts val="1000"/>
              </a:spcAft>
            </a:pPr>
            <a:r>
              <a:t>Stall = sustained. Start-up = decays. Telling them apart is the whole game.</a:t>
            </a:r>
          </a:p>
        </p:txBody>
      </p:sp>
      <p:pic>
        <p:nvPicPr>
          <p:cNvPr id="4" name="Picture 3" descr="signature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5212080" cy="19545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→ 6 features → an interpretable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t>Slice the current into short windows; extract 6 features — level, spread, slope, trend.</a:t>
            </a:r>
          </a:p>
          <a:p>
            <a:pPr>
              <a:spcAft>
                <a:spcPts val="1000"/>
              </a:spcAft>
            </a:pPr>
            <a:r>
              <a:t>Feed a small decision tree — interpretable, and tiny enough to run on a chip.</a:t>
            </a:r>
          </a:p>
          <a:p>
            <a:pPr>
              <a:spcAft>
                <a:spcPts val="1000"/>
              </a:spcAft>
            </a:pPr>
            <a:r>
              <a:t>A debounced state machine turns it into green / orange / red.</a:t>
            </a:r>
          </a:p>
          <a:p>
            <a:pPr>
              <a:spcAft>
                <a:spcPts val="1000"/>
              </a:spcAft>
            </a:pPr>
            <a:r>
              <a:t>The rule it LEARNED (not hand-written):</a:t>
            </a:r>
          </a:p>
          <a:p>
            <a:r>
              <a:rPr b="1">
                <a:solidFill>
                  <a:srgbClr val="C8102E"/>
                </a:solidFill>
              </a:rPr>
              <a:t>    mean high  &amp;  steady (low spread)  →  STALL</a:t>
            </a:r>
          </a:p>
          <a:p>
            <a:r>
              <a:rPr b="1">
                <a:solidFill>
                  <a:srgbClr val="C28200"/>
                </a:solidFill>
              </a:rPr>
              <a:t>    mean high  &amp;  spiky / decaying      →  start-up  (no alarm)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37360"/>
            <a:ext cx="5760720" cy="43891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t>Running  →  GREEN.</a:t>
            </a:r>
          </a:p>
          <a:p>
            <a:pPr>
              <a:spcAft>
                <a:spcPts val="1000"/>
              </a:spcAft>
            </a:pPr>
            <a:r>
              <a:t>Power-cycle a few times  →  stays green (no false alarm on inrush).</a:t>
            </a:r>
          </a:p>
          <a:p>
            <a:pPr>
              <a:spcAft>
                <a:spcPts val="1000"/>
              </a:spcAft>
            </a:pPr>
            <a:r>
              <a:t>Hold the shaft (stall)  →  RED in ~0.1 s.</a:t>
            </a:r>
          </a:p>
          <a:p>
            <a:pPr>
              <a:spcAft>
                <a:spcPts val="1000"/>
              </a:spcAft>
            </a:pPr>
            <a:r>
              <a:t>Release  →  back to green.</a:t>
            </a:r>
          </a:p>
        </p:txBody>
      </p:sp>
      <p:pic>
        <p:nvPicPr>
          <p:cNvPr id="4" name="Picture 3" descr="dashboard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521208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works — and never cries wolf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37360"/>
            <a:ext cx="5760720" cy="43891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t>Stall: 100% separated — never missed, never falsely raised.</a:t>
            </a:r>
          </a:p>
          <a:p>
            <a:pPr>
              <a:spcAft>
                <a:spcPts val="1000"/>
              </a:spcAft>
            </a:pPr>
            <a:r>
              <a:t>Start-up is NEVER predicted as a stall (the red-alarm property).</a:t>
            </a:r>
          </a:p>
          <a:p>
            <a:pPr>
              <a:spcAft>
                <a:spcPts val="1000"/>
              </a:spcAft>
            </a:pPr>
            <a:r>
              <a:t>18 automated tests; a physics simulator verified it before any hardware.</a:t>
            </a:r>
          </a:p>
          <a:p>
            <a:pPr>
              <a:spcAft>
                <a:spcPts val="1000"/>
              </a:spcAft>
            </a:pPr>
            <a:r>
              <a:t>The tree is readable — we can show a judge exactly why it fired.</a:t>
            </a:r>
          </a:p>
        </p:txBody>
      </p:sp>
      <p:pic>
        <p:nvPicPr>
          <p:cNvPr id="4" name="Picture 3" descr="confusion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5212080" cy="44674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laptop: the tree runs on the chip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t>We compiled the same decision tree into C and flashed it onto the Arduino itself.</a:t>
            </a:r>
          </a:p>
          <a:p>
            <a:pPr>
              <a:spcAft>
                <a:spcPts val="1000"/>
              </a:spcAft>
            </a:pPr>
            <a:r>
              <a:t>The board runs inference on-chip and lights an LED on a stall.</a:t>
            </a:r>
          </a:p>
          <a:p>
            <a:pPr>
              <a:spcAft>
                <a:spcPts val="1000"/>
              </a:spcAft>
            </a:pPr>
            <a:r>
              <a:t>Pull the laptop — power it from a charger — and it still works. No PC, no cloud.</a:t>
            </a:r>
          </a:p>
          <a:p>
            <a:pPr>
              <a:spcAft>
                <a:spcPts val="1000"/>
              </a:spcAft>
            </a:pPr>
            <a:r>
              <a:t>Detection at the edge, on a microcontroller — where a factory sensor lives.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method scales to the factory floor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37360"/>
            <a:ext cx="5760720" cy="43891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t>The exact same feature code runs unchanged on Toyota's real 8-DOF arm telemetry — fleet-wide.</a:t>
            </a:r>
          </a:p>
          <a:p>
            <a:pPr>
              <a:spcAft>
                <a:spcPts val="1000"/>
              </a:spcAft>
            </a:pPr>
            <a:r>
              <a:t>An unsupervised pass flags the most mechanically-stressed joints (shoulder/elbow) — physically right.</a:t>
            </a:r>
          </a:p>
          <a:p>
            <a:pPr>
              <a:spcAft>
                <a:spcPts val="1000"/>
              </a:spcAft>
            </a:pPr>
            <a:r>
              <a:t>With labeled fault data, the same approach becomes production predictive maintenance.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707070"/>
                </a:solidFill>
              </a:rPr>
              <a:t>Real faults aren't labeled here — this shows the method transfers, not arm fault detection.</a:t>
            </a:r>
          </a:p>
        </p:txBody>
      </p:sp>
      <p:pic>
        <p:nvPicPr>
          <p:cNvPr id="4" name="Picture 3" descr="fleet_anomal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521208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a $3 motor to a robot fleet — same physics, same code.   We turn a motor's current into an early-warning system. 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ofWaterloo_WhiteBkgrd">
  <a:themeElements>
    <a:clrScheme name="UWaterloo">
      <a:dk1>
        <a:sysClr val="windowText" lastClr="000000"/>
      </a:dk1>
      <a:lt1>
        <a:sysClr val="window" lastClr="FFFFFF"/>
      </a:lt1>
      <a:dk2>
        <a:srgbClr val="787878"/>
      </a:dk2>
      <a:lt2>
        <a:srgbClr val="DFDFDF"/>
      </a:lt2>
      <a:accent1>
        <a:srgbClr val="F2EDA8"/>
      </a:accent1>
      <a:accent2>
        <a:srgbClr val="FAE100"/>
      </a:accent2>
      <a:accent3>
        <a:srgbClr val="FED34C"/>
      </a:accent3>
      <a:accent4>
        <a:srgbClr val="EBAB00"/>
      </a:accent4>
      <a:accent5>
        <a:srgbClr val="BB0F33"/>
      </a:accent5>
      <a:accent6>
        <a:srgbClr val="A2A2A2"/>
      </a:accent6>
      <a:hlink>
        <a:srgbClr val="000000"/>
      </a:hlink>
      <a:folHlink>
        <a:srgbClr val="000000"/>
      </a:folHlink>
    </a:clrScheme>
    <a:fontScheme name="Custom 1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aterloo_powerpoint_template_16-9_widescreen" id="{E4282101-675F-A445-8F53-64115176576B}" vid="{FE1396AD-CDE7-C040-8CC2-F51B417BF6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Props1.xml><?xml version="1.0" encoding="utf-8"?>
<ds:datastoreItem xmlns:ds="http://schemas.openxmlformats.org/officeDocument/2006/customXml" ds:itemID="{6A0B129A-BB2C-4903-97C3-AEFBE34B73DA}"/>
</file>

<file path=customXml/itemProps2.xml><?xml version="1.0" encoding="utf-8"?>
<ds:datastoreItem xmlns:ds="http://schemas.openxmlformats.org/officeDocument/2006/customXml" ds:itemID="{B8250F3E-D848-4658-9B4C-2EE3061DDAF8}"/>
</file>

<file path=customXml/itemProps3.xml><?xml version="1.0" encoding="utf-8"?>
<ds:datastoreItem xmlns:ds="http://schemas.openxmlformats.org/officeDocument/2006/customXml" ds:itemID="{E8FF0F72-93A1-4E69-8D64-632B8033354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684</Words>
  <Application>Microsoft Macintosh PowerPoint</Application>
  <PresentationFormat>Widescreen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PRESENTATION TITLE IN THIS SPACE HERE</vt:lpstr>
      <vt:lpstr>PRESENTATION TITLE IN THIS SPACE HERE</vt:lpstr>
      <vt:lpstr>PRESENTATION TITLE IN THIS SPACE HERE</vt:lpstr>
      <vt:lpstr>PRESENTATION TITLE IN THIS SPACE HERE</vt:lpstr>
      <vt:lpstr>PAGE  TITLE HERE</vt:lpstr>
      <vt:lpstr>TWO COLUMN CONTENT SLIDE LAYOUT</vt:lpstr>
      <vt:lpstr>PAGE  TITLE HERE</vt:lpstr>
      <vt:lpstr>PAGE  TITLE HERE</vt:lpstr>
      <vt:lpstr>CONTEXT OR THEME</vt:lpstr>
      <vt:lpstr>CONTEXT OR THEME</vt:lpstr>
      <vt:lpstr>PowerPoint Presentation</vt:lpstr>
      <vt:lpstr>PowerPoint Presentation</vt:lpstr>
      <vt:lpstr>PowerPoint Presentation</vt:lpstr>
      <vt:lpstr>INFOGRAPHIC SYMBOLS / STYLE</vt:lpstr>
      <vt:lpstr>MASTER SLIDE CHART </vt:lpstr>
      <vt:lpstr>MASTER SLIDE CHART (accessible version)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IN THIS SPACE HERE</dc:title>
  <dc:creator>Maria Morrone</dc:creator>
  <cp:lastModifiedBy>Heather Bettridge</cp:lastModifiedBy>
  <cp:revision>23</cp:revision>
  <dcterms:created xsi:type="dcterms:W3CDTF">2019-02-13T16:31:30Z</dcterms:created>
  <dcterms:modified xsi:type="dcterms:W3CDTF">2024-02-21T15:15:45Z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